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embeddedFontLst>
    <p:embeddedFont>
      <p:font typeface="Bitter Light"/>
      <p:regular r:id="rId15"/>
      <p:bold r:id="rId16"/>
      <p:italic r:id="rId17"/>
      <p:boldItalic r:id="rId18"/>
    </p:embeddedFont>
    <p:embeddedFont>
      <p:font typeface="Bitter Medium"/>
      <p:regular r:id="rId19"/>
      <p:bold r:id="rId20"/>
      <p:italic r:id="rId21"/>
      <p:boldItalic r:id="rId22"/>
    </p:embeddedFon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BitterMedium-bold.fntdata"/><Relationship Id="rId22" Type="http://schemas.openxmlformats.org/officeDocument/2006/relationships/font" Target="fonts/BitterMedium-boldItalic.fntdata"/><Relationship Id="rId21" Type="http://schemas.openxmlformats.org/officeDocument/2006/relationships/font" Target="fonts/BitterMedium-italic.fntdata"/><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BitterLight-regular.fntdata"/><Relationship Id="rId14" Type="http://schemas.openxmlformats.org/officeDocument/2006/relationships/slide" Target="slides/slide10.xml"/><Relationship Id="rId17" Type="http://schemas.openxmlformats.org/officeDocument/2006/relationships/font" Target="fonts/BitterLight-italic.fntdata"/><Relationship Id="rId16" Type="http://schemas.openxmlformats.org/officeDocument/2006/relationships/font" Target="fonts/BitterLight-bold.fntdata"/><Relationship Id="rId19" Type="http://schemas.openxmlformats.org/officeDocument/2006/relationships/font" Target="fonts/BitterMedium-regular.fntdata"/><Relationship Id="rId18" Type="http://schemas.openxmlformats.org/officeDocument/2006/relationships/font" Target="fonts/Bitter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 name="Google Shape;3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sp>
        <p:nvSpPr>
          <p:cNvPr id="11" name="Google Shape;11;p2"/>
          <p:cNvSpPr/>
          <p:nvPr/>
        </p:nvSpPr>
        <p:spPr>
          <a:xfrm>
            <a:off x="0" y="0"/>
            <a:ext cx="9144000" cy="5143500"/>
          </a:xfrm>
          <a:prstGeom prst="rect">
            <a:avLst/>
          </a:prstGeom>
          <a:solidFill>
            <a:srgbClr val="AABC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9144000" cy="5143500"/>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4"/>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1" name="Google Shape;21;p4"/>
          <p:cNvSpPr/>
          <p:nvPr/>
        </p:nvSpPr>
        <p:spPr>
          <a:xfrm>
            <a:off x="496119" y="1347341"/>
            <a:ext cx="4722763" cy="13289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Learning Agent for Personalized Education System</a:t>
            </a:r>
            <a:endParaRPr b="0" i="0" sz="2600" u="none" cap="none" strike="noStrike">
              <a:solidFill>
                <a:schemeClr val="dk1"/>
              </a:solidFill>
              <a:latin typeface="Calibri"/>
              <a:ea typeface="Calibri"/>
              <a:cs typeface="Calibri"/>
              <a:sym typeface="Calibri"/>
            </a:endParaRPr>
          </a:p>
        </p:txBody>
      </p:sp>
      <p:sp>
        <p:nvSpPr>
          <p:cNvPr id="22" name="Google Shape;22;p4"/>
          <p:cNvSpPr/>
          <p:nvPr/>
        </p:nvSpPr>
        <p:spPr>
          <a:xfrm>
            <a:off x="496119" y="2888903"/>
            <a:ext cx="4722763"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Design brief: an AI-driven learning agent that personalizes instruction, improves over time with feedback, adapts difficulty, and integrates with distributed data systems like PySpark. Visual roadmap across architecture, feedback loops, adaptation strategies, and scalable analytics.</a:t>
            </a:r>
            <a:endParaRPr b="0" i="0" sz="1050" u="none" cap="none" strike="noStrike">
              <a:solidFill>
                <a:schemeClr val="dk1"/>
              </a:solidFill>
              <a:latin typeface="Calibri"/>
              <a:ea typeface="Calibri"/>
              <a:cs typeface="Calibri"/>
              <a:sym typeface="Calibri"/>
            </a:endParaRPr>
          </a:p>
        </p:txBody>
      </p:sp>
      <p:sp>
        <p:nvSpPr>
          <p:cNvPr id="23" name="Google Shape;23;p4"/>
          <p:cNvSpPr txBox="1"/>
          <p:nvPr/>
        </p:nvSpPr>
        <p:spPr>
          <a:xfrm>
            <a:off x="2221825" y="3826650"/>
            <a:ext cx="3429000" cy="81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Presented by</a:t>
            </a:r>
            <a:endParaRPr b="1"/>
          </a:p>
          <a:p>
            <a:pPr indent="0" lvl="0" marL="0" rtl="0" algn="l">
              <a:spcBef>
                <a:spcPts val="0"/>
              </a:spcBef>
              <a:spcAft>
                <a:spcPts val="0"/>
              </a:spcAft>
              <a:buNone/>
            </a:pPr>
            <a:r>
              <a:rPr b="1" lang="en-US"/>
              <a:t>Bodham sushma (192571065)</a:t>
            </a:r>
            <a:endParaRPr b="1"/>
          </a:p>
          <a:p>
            <a:pPr indent="0" lvl="0" marL="0" rtl="0" algn="l">
              <a:spcBef>
                <a:spcPts val="0"/>
              </a:spcBef>
              <a:spcAft>
                <a:spcPts val="0"/>
              </a:spcAft>
              <a:buNone/>
            </a:pPr>
            <a:r>
              <a:rPr b="1" lang="en-US"/>
              <a:t>Mithra Devi (192524203)</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pic>
        <p:nvPicPr>
          <p:cNvPr descr="preencoded.png" id="29" name="Google Shape;29;p5"/>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30" name="Google Shape;30;p5"/>
          <p:cNvSpPr/>
          <p:nvPr/>
        </p:nvSpPr>
        <p:spPr>
          <a:xfrm>
            <a:off x="496119" y="1568797"/>
            <a:ext cx="4722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The Goal: Personalize Beyond Recommendations</a:t>
            </a:r>
            <a:endParaRPr b="0" i="0" sz="2600" u="none" cap="none" strike="noStrike">
              <a:solidFill>
                <a:schemeClr val="dk1"/>
              </a:solidFill>
              <a:latin typeface="Calibri"/>
              <a:ea typeface="Calibri"/>
              <a:cs typeface="Calibri"/>
              <a:sym typeface="Calibri"/>
            </a:endParaRPr>
          </a:p>
        </p:txBody>
      </p:sp>
      <p:sp>
        <p:nvSpPr>
          <p:cNvPr id="31" name="Google Shape;31;p5"/>
          <p:cNvSpPr/>
          <p:nvPr/>
        </p:nvSpPr>
        <p:spPr>
          <a:xfrm>
            <a:off x="496119" y="2667372"/>
            <a:ext cx="4722763"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Move past static recommendations to continuous curriculum adaptation, real-time tutoring, and long-term pathway shaping. Deliver proactive interventions that evolve across sessions and learning phases while preserving pedagogical safety.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6"/>
          <p:cNvSpPr/>
          <p:nvPr/>
        </p:nvSpPr>
        <p:spPr>
          <a:xfrm>
            <a:off x="496119" y="997967"/>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Slide-to-Student Loop: Feedback at Multiple Temporal Scales</a:t>
            </a:r>
            <a:endParaRPr b="0" i="0" sz="2600" u="none" cap="none" strike="noStrike">
              <a:solidFill>
                <a:schemeClr val="dk1"/>
              </a:solidFill>
              <a:latin typeface="Calibri"/>
              <a:ea typeface="Calibri"/>
              <a:cs typeface="Calibri"/>
              <a:sym typeface="Calibri"/>
            </a:endParaRPr>
          </a:p>
        </p:txBody>
      </p:sp>
      <p:pic>
        <p:nvPicPr>
          <p:cNvPr descr="preencoded.png" id="38" name="Google Shape;38;p6"/>
          <p:cNvPicPr preferRelativeResize="0"/>
          <p:nvPr/>
        </p:nvPicPr>
        <p:blipFill rotWithShape="1">
          <a:blip r:embed="rId3">
            <a:alphaModFix/>
          </a:blip>
          <a:srcRect b="0" l="0" r="0" t="0"/>
          <a:stretch/>
        </p:blipFill>
        <p:spPr>
          <a:xfrm>
            <a:off x="496119" y="2256011"/>
            <a:ext cx="3053135" cy="1730053"/>
          </a:xfrm>
          <a:prstGeom prst="rect">
            <a:avLst/>
          </a:prstGeom>
          <a:noFill/>
          <a:ln>
            <a:noFill/>
          </a:ln>
        </p:spPr>
      </p:pic>
      <p:sp>
        <p:nvSpPr>
          <p:cNvPr id="39" name="Google Shape;39;p6"/>
          <p:cNvSpPr/>
          <p:nvPr/>
        </p:nvSpPr>
        <p:spPr>
          <a:xfrm>
            <a:off x="3899892" y="2266131"/>
            <a:ext cx="4752677"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1250"/>
              <a:buFont typeface="Bitter Medium"/>
              <a:buNone/>
            </a:pPr>
            <a:r>
              <a:rPr b="0" i="0" lang="en-US" sz="1250" u="none" cap="none" strike="noStrike">
                <a:solidFill>
                  <a:srgbClr val="2C3F42"/>
                </a:solidFill>
                <a:latin typeface="Bitter Medium"/>
                <a:ea typeface="Bitter Medium"/>
                <a:cs typeface="Bitter Medium"/>
                <a:sym typeface="Bitter Medium"/>
              </a:rPr>
              <a:t>Temporal stratification</a:t>
            </a:r>
            <a:endParaRPr b="0" i="0" sz="1250" u="none" cap="none" strike="noStrike">
              <a:solidFill>
                <a:schemeClr val="dk1"/>
              </a:solidFill>
              <a:latin typeface="Calibri"/>
              <a:ea typeface="Calibri"/>
              <a:cs typeface="Calibri"/>
              <a:sym typeface="Calibri"/>
            </a:endParaRPr>
          </a:p>
        </p:txBody>
      </p:sp>
      <p:sp>
        <p:nvSpPr>
          <p:cNvPr id="40" name="Google Shape;40;p6"/>
          <p:cNvSpPr/>
          <p:nvPr/>
        </p:nvSpPr>
        <p:spPr>
          <a:xfrm>
            <a:off x="3899892" y="2629346"/>
            <a:ext cx="4752677" cy="779562"/>
          </a:xfrm>
          <a:prstGeom prst="rect">
            <a:avLst/>
          </a:prstGeom>
          <a:noFill/>
          <a:ln>
            <a:noFill/>
          </a:ln>
        </p:spPr>
        <p:txBody>
          <a:bodyPr anchorCtr="0" anchor="t" bIns="0" lIns="0" spcFirstLastPara="1" rIns="0" wrap="square" tIns="56700">
            <a:noAutofit/>
          </a:bodyPr>
          <a:lstStyle/>
          <a:p>
            <a:pPr indent="-213360" lvl="0" marL="213360" marR="0" rtl="0" algn="l">
              <a:lnSpc>
                <a:spcPct val="133000"/>
              </a:lnSpc>
              <a:spcBef>
                <a:spcPts val="0"/>
              </a:spcBef>
              <a:spcAft>
                <a:spcPts val="0"/>
              </a:spcAft>
              <a:buClr>
                <a:srgbClr val="2B2E3C"/>
              </a:buClr>
              <a:buSzPts val="1050"/>
              <a:buFont typeface="Open Sans"/>
              <a:buChar char="•"/>
            </a:pPr>
            <a:r>
              <a:rPr b="0" i="0" lang="en-US" sz="1050" u="none" cap="none" strike="noStrike">
                <a:solidFill>
                  <a:srgbClr val="2B2E3C"/>
                </a:solidFill>
                <a:latin typeface="Open Sans"/>
                <a:ea typeface="Open Sans"/>
                <a:cs typeface="Open Sans"/>
                <a:sym typeface="Open Sans"/>
              </a:rPr>
              <a:t>Milliseconds: immediate hints, scaffolding during problem solving</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2B2E3C"/>
              </a:buClr>
              <a:buSzPts val="1050"/>
              <a:buFont typeface="Open Sans"/>
              <a:buChar char="•"/>
            </a:pPr>
            <a:r>
              <a:rPr b="0" i="0" lang="en-US" sz="1050" u="none" cap="none" strike="noStrike">
                <a:solidFill>
                  <a:srgbClr val="2B2E3C"/>
                </a:solidFill>
                <a:latin typeface="Open Sans"/>
                <a:ea typeface="Open Sans"/>
                <a:cs typeface="Open Sans"/>
                <a:sym typeface="Open Sans"/>
              </a:rPr>
              <a:t>Hours–Days: sequencing, targeted practice and spaced repetition</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2B2E3C"/>
              </a:buClr>
              <a:buSzPts val="1050"/>
              <a:buFont typeface="Open Sans"/>
              <a:buChar char="•"/>
            </a:pPr>
            <a:r>
              <a:rPr b="0" i="0" lang="en-US" sz="1050" u="none" cap="none" strike="noStrike">
                <a:solidFill>
                  <a:srgbClr val="2B2E3C"/>
                </a:solidFill>
                <a:latin typeface="Open Sans"/>
                <a:ea typeface="Open Sans"/>
                <a:cs typeface="Open Sans"/>
                <a:sym typeface="Open Sans"/>
              </a:rPr>
              <a:t>Months: mastery milestones, career and curriculum shifts</a:t>
            </a:r>
            <a:endParaRPr b="0" i="0" sz="1050" u="none" cap="none" strike="noStrike">
              <a:solidFill>
                <a:schemeClr val="dk1"/>
              </a:solidFill>
              <a:latin typeface="Calibri"/>
              <a:ea typeface="Calibri"/>
              <a:cs typeface="Calibri"/>
              <a:sym typeface="Calibri"/>
            </a:endParaRPr>
          </a:p>
        </p:txBody>
      </p:sp>
      <p:sp>
        <p:nvSpPr>
          <p:cNvPr id="41" name="Google Shape;41;p6"/>
          <p:cNvSpPr/>
          <p:nvPr/>
        </p:nvSpPr>
        <p:spPr>
          <a:xfrm>
            <a:off x="3899892" y="3536454"/>
            <a:ext cx="4752677"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A QA meta-layer validates pedagogical soundness, factual accuracy, and consistency before outputs reach learners.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p:nvPr/>
        </p:nvSpPr>
        <p:spPr>
          <a:xfrm>
            <a:off x="496119" y="1341686"/>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How Performance Improves Over Time</a:t>
            </a:r>
            <a:endParaRPr b="0" i="0" sz="2600" u="none" cap="none" strike="noStrike">
              <a:solidFill>
                <a:schemeClr val="dk1"/>
              </a:solidFill>
              <a:latin typeface="Calibri"/>
              <a:ea typeface="Calibri"/>
              <a:cs typeface="Calibri"/>
              <a:sym typeface="Calibri"/>
            </a:endParaRPr>
          </a:p>
        </p:txBody>
      </p:sp>
      <p:sp>
        <p:nvSpPr>
          <p:cNvPr id="48" name="Google Shape;48;p7"/>
          <p:cNvSpPr/>
          <p:nvPr/>
        </p:nvSpPr>
        <p:spPr>
          <a:xfrm>
            <a:off x="496119" y="2068190"/>
            <a:ext cx="2622724" cy="1733624"/>
          </a:xfrm>
          <a:prstGeom prst="roundRect">
            <a:avLst>
              <a:gd fmla="val 3435" name="adj"/>
            </a:avLst>
          </a:prstGeom>
          <a:solidFill>
            <a:srgbClr val="FCE2CF"/>
          </a:solidFill>
          <a:ln cap="flat" cmpd="sng" w="9525">
            <a:solidFill>
              <a:srgbClr val="E2C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7"/>
          <p:cNvSpPr/>
          <p:nvPr/>
        </p:nvSpPr>
        <p:spPr>
          <a:xfrm>
            <a:off x="642640" y="2214711"/>
            <a:ext cx="2329681"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Continuous Perception</a:t>
            </a:r>
            <a:endParaRPr b="0" i="0" sz="1300" u="none" cap="none" strike="noStrike">
              <a:solidFill>
                <a:schemeClr val="dk1"/>
              </a:solidFill>
              <a:latin typeface="Calibri"/>
              <a:ea typeface="Calibri"/>
              <a:cs typeface="Calibri"/>
              <a:sym typeface="Calibri"/>
            </a:endParaRPr>
          </a:p>
        </p:txBody>
      </p:sp>
      <p:sp>
        <p:nvSpPr>
          <p:cNvPr id="50" name="Google Shape;50;p7"/>
          <p:cNvSpPr/>
          <p:nvPr/>
        </p:nvSpPr>
        <p:spPr>
          <a:xfrm>
            <a:off x="642640" y="2521223"/>
            <a:ext cx="2329681" cy="113407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Perception agents log interaction signals (responses, latency, hints requested) and update the shared learner model in real time.       </a:t>
            </a:r>
            <a:endParaRPr b="0" i="0" sz="1050" u="none" cap="none" strike="noStrike">
              <a:solidFill>
                <a:schemeClr val="dk1"/>
              </a:solidFill>
              <a:latin typeface="Calibri"/>
              <a:ea typeface="Calibri"/>
              <a:cs typeface="Calibri"/>
              <a:sym typeface="Calibri"/>
            </a:endParaRPr>
          </a:p>
        </p:txBody>
      </p:sp>
      <p:sp>
        <p:nvSpPr>
          <p:cNvPr id="51" name="Google Shape;51;p7"/>
          <p:cNvSpPr/>
          <p:nvPr/>
        </p:nvSpPr>
        <p:spPr>
          <a:xfrm>
            <a:off x="3260601" y="2068190"/>
            <a:ext cx="2622724" cy="1733624"/>
          </a:xfrm>
          <a:prstGeom prst="roundRect">
            <a:avLst>
              <a:gd fmla="val 3435" name="adj"/>
            </a:avLst>
          </a:prstGeom>
          <a:solidFill>
            <a:srgbClr val="FCE2CF"/>
          </a:solidFill>
          <a:ln cap="flat" cmpd="sng" w="9525">
            <a:solidFill>
              <a:srgbClr val="E2C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7"/>
          <p:cNvSpPr/>
          <p:nvPr/>
        </p:nvSpPr>
        <p:spPr>
          <a:xfrm>
            <a:off x="3407122" y="2214711"/>
            <a:ext cx="2329681"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Periodic Strategic Updates</a:t>
            </a:r>
            <a:endParaRPr b="0" i="0" sz="1300" u="none" cap="none" strike="noStrike">
              <a:solidFill>
                <a:schemeClr val="dk1"/>
              </a:solidFill>
              <a:latin typeface="Calibri"/>
              <a:ea typeface="Calibri"/>
              <a:cs typeface="Calibri"/>
              <a:sym typeface="Calibri"/>
            </a:endParaRPr>
          </a:p>
        </p:txBody>
      </p:sp>
      <p:sp>
        <p:nvSpPr>
          <p:cNvPr id="53" name="Google Shape;53;p7"/>
          <p:cNvSpPr/>
          <p:nvPr/>
        </p:nvSpPr>
        <p:spPr>
          <a:xfrm>
            <a:off x="3407122" y="2521223"/>
            <a:ext cx="2329681" cy="113407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Strategic agents retrain trajectories and engagement models using aggregated time-series to forecast dropout risk and mastery curves.       </a:t>
            </a:r>
            <a:endParaRPr b="0" i="0" sz="1050" u="none" cap="none" strike="noStrike">
              <a:solidFill>
                <a:schemeClr val="dk1"/>
              </a:solidFill>
              <a:latin typeface="Calibri"/>
              <a:ea typeface="Calibri"/>
              <a:cs typeface="Calibri"/>
              <a:sym typeface="Calibri"/>
            </a:endParaRPr>
          </a:p>
        </p:txBody>
      </p:sp>
      <p:sp>
        <p:nvSpPr>
          <p:cNvPr id="54" name="Google Shape;54;p7"/>
          <p:cNvSpPr/>
          <p:nvPr/>
        </p:nvSpPr>
        <p:spPr>
          <a:xfrm>
            <a:off x="6025083" y="2068190"/>
            <a:ext cx="2622724" cy="1733624"/>
          </a:xfrm>
          <a:prstGeom prst="roundRect">
            <a:avLst>
              <a:gd fmla="val 3435" name="adj"/>
            </a:avLst>
          </a:prstGeom>
          <a:solidFill>
            <a:srgbClr val="FCE2CF"/>
          </a:solidFill>
          <a:ln cap="flat" cmpd="sng" w="9525">
            <a:solidFill>
              <a:srgbClr val="E2C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a:off x="6171605" y="2214711"/>
            <a:ext cx="2329681"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Micro-interventions</a:t>
            </a:r>
            <a:endParaRPr b="0" i="0" sz="1300" u="none" cap="none" strike="noStrike">
              <a:solidFill>
                <a:schemeClr val="dk1"/>
              </a:solidFill>
              <a:latin typeface="Calibri"/>
              <a:ea typeface="Calibri"/>
              <a:cs typeface="Calibri"/>
              <a:sym typeface="Calibri"/>
            </a:endParaRPr>
          </a:p>
        </p:txBody>
      </p:sp>
      <p:sp>
        <p:nvSpPr>
          <p:cNvPr id="56" name="Google Shape;56;p7"/>
          <p:cNvSpPr/>
          <p:nvPr/>
        </p:nvSpPr>
        <p:spPr>
          <a:xfrm>
            <a:off x="6171605" y="2521223"/>
            <a:ext cx="2329681"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When progress stalls, the system triggers brief, targeted micro-lessons and re-evaluates competence to restore flow.</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descr="preencoded.png" id="62" name="Google Shape;62;p8"/>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63" name="Google Shape;63;p8"/>
          <p:cNvSpPr/>
          <p:nvPr/>
        </p:nvSpPr>
        <p:spPr>
          <a:xfrm>
            <a:off x="3925119" y="1568797"/>
            <a:ext cx="4722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550"/>
              <a:buFont typeface="Bitter Medium"/>
              <a:buNone/>
            </a:pPr>
            <a:r>
              <a:rPr b="0" i="0" lang="en-US" sz="2550" u="none" cap="none" strike="noStrike">
                <a:solidFill>
                  <a:srgbClr val="2C3F42"/>
                </a:solidFill>
                <a:latin typeface="Bitter Medium"/>
                <a:ea typeface="Bitter Medium"/>
                <a:cs typeface="Bitter Medium"/>
                <a:sym typeface="Bitter Medium"/>
              </a:rPr>
              <a:t>Adapting Content Difficulty — Not Just Easier or Harder</a:t>
            </a:r>
            <a:endParaRPr b="0" i="0" sz="2550" u="none" cap="none" strike="noStrike">
              <a:solidFill>
                <a:schemeClr val="dk1"/>
              </a:solidFill>
              <a:latin typeface="Calibri"/>
              <a:ea typeface="Calibri"/>
              <a:cs typeface="Calibri"/>
              <a:sym typeface="Calibri"/>
            </a:endParaRPr>
          </a:p>
        </p:txBody>
      </p:sp>
      <p:sp>
        <p:nvSpPr>
          <p:cNvPr id="64" name="Google Shape;64;p8"/>
          <p:cNvSpPr/>
          <p:nvPr/>
        </p:nvSpPr>
        <p:spPr>
          <a:xfrm>
            <a:off x="3925119" y="2667372"/>
            <a:ext cx="4722763"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Coordination agents tune response complexity (explanations, worked examples, problem scaffolds) based on cumulative learner state and recent feedback. Difficulty shifts are routed, aggregated, and validated to avoid abrupt regressions or gaps.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9"/>
          <p:cNvSpPr/>
          <p:nvPr/>
        </p:nvSpPr>
        <p:spPr>
          <a:xfrm>
            <a:off x="496119" y="411063"/>
            <a:ext cx="8151763" cy="30450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1750"/>
              <a:buFont typeface="Bitter Medium"/>
              <a:buNone/>
            </a:pPr>
            <a:r>
              <a:rPr b="0" i="0" lang="en-US" sz="1750" u="none" cap="none" strike="noStrike">
                <a:solidFill>
                  <a:srgbClr val="2C3F42"/>
                </a:solidFill>
                <a:latin typeface="Bitter Medium"/>
                <a:ea typeface="Bitter Medium"/>
                <a:cs typeface="Bitter Medium"/>
                <a:sym typeface="Bitter Medium"/>
              </a:rPr>
              <a:t>Multi-Agent Orchestration: Who Does What</a:t>
            </a:r>
            <a:endParaRPr b="0" i="0" sz="1750" u="none" cap="none" strike="noStrike">
              <a:solidFill>
                <a:schemeClr val="dk1"/>
              </a:solidFill>
              <a:latin typeface="Calibri"/>
              <a:ea typeface="Calibri"/>
              <a:cs typeface="Calibri"/>
              <a:sym typeface="Calibri"/>
            </a:endParaRPr>
          </a:p>
        </p:txBody>
      </p:sp>
      <p:pic>
        <p:nvPicPr>
          <p:cNvPr descr="preencoded.png" id="71" name="Google Shape;71;p9"/>
          <p:cNvPicPr preferRelativeResize="0"/>
          <p:nvPr/>
        </p:nvPicPr>
        <p:blipFill rotWithShape="1">
          <a:blip r:embed="rId3">
            <a:alphaModFix/>
          </a:blip>
          <a:srcRect b="0" l="0" r="0" t="0"/>
          <a:stretch/>
        </p:blipFill>
        <p:spPr>
          <a:xfrm>
            <a:off x="496119" y="891406"/>
            <a:ext cx="3537570" cy="2004566"/>
          </a:xfrm>
          <a:prstGeom prst="rect">
            <a:avLst/>
          </a:prstGeom>
          <a:noFill/>
          <a:ln>
            <a:noFill/>
          </a:ln>
        </p:spPr>
      </p:pic>
      <p:sp>
        <p:nvSpPr>
          <p:cNvPr id="72" name="Google Shape;72;p9"/>
          <p:cNvSpPr/>
          <p:nvPr/>
        </p:nvSpPr>
        <p:spPr>
          <a:xfrm>
            <a:off x="4276130" y="1762125"/>
            <a:ext cx="4376514" cy="263128"/>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2B2E3C"/>
              </a:buClr>
              <a:buSzPts val="700"/>
              <a:buFont typeface="Open Sans"/>
              <a:buNone/>
            </a:pPr>
            <a:r>
              <a:rPr b="0" i="0" lang="en-US" sz="700" u="none" cap="none" strike="noStrike">
                <a:solidFill>
                  <a:srgbClr val="2B2E3C"/>
                </a:solidFill>
                <a:latin typeface="Open Sans"/>
                <a:ea typeface="Open Sans"/>
                <a:cs typeface="Open Sans"/>
                <a:sym typeface="Open Sans"/>
              </a:rPr>
              <a:t>         Example routing: a systems question is sent to Code Analysis + System Design agents, then merged and QA-reviewed before delivery.       </a:t>
            </a:r>
            <a:endParaRPr b="0" i="0" sz="700" u="none" cap="none" strike="noStrike">
              <a:solidFill>
                <a:schemeClr val="dk1"/>
              </a:solidFill>
              <a:latin typeface="Calibri"/>
              <a:ea typeface="Calibri"/>
              <a:cs typeface="Calibri"/>
              <a:sym typeface="Calibri"/>
            </a:endParaRPr>
          </a:p>
        </p:txBody>
      </p:sp>
      <p:pic>
        <p:nvPicPr>
          <p:cNvPr descr="preencoded.png" id="73" name="Google Shape;73;p9"/>
          <p:cNvPicPr preferRelativeResize="0"/>
          <p:nvPr/>
        </p:nvPicPr>
        <p:blipFill rotWithShape="1">
          <a:blip r:embed="rId4">
            <a:alphaModFix/>
          </a:blip>
          <a:srcRect b="0" l="0" r="0" t="0"/>
          <a:stretch/>
        </p:blipFill>
        <p:spPr>
          <a:xfrm>
            <a:off x="496119" y="3046735"/>
            <a:ext cx="4042395" cy="809327"/>
          </a:xfrm>
          <a:prstGeom prst="rect">
            <a:avLst/>
          </a:prstGeom>
          <a:noFill/>
          <a:ln>
            <a:noFill/>
          </a:ln>
        </p:spPr>
      </p:pic>
      <p:sp>
        <p:nvSpPr>
          <p:cNvPr id="74" name="Google Shape;74;p9"/>
          <p:cNvSpPr/>
          <p:nvPr/>
        </p:nvSpPr>
        <p:spPr>
          <a:xfrm>
            <a:off x="2444204" y="3113484"/>
            <a:ext cx="146149" cy="1826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2E3C"/>
              </a:buClr>
              <a:buSzPts val="1050"/>
              <a:buFont typeface="Bitter Medium"/>
              <a:buNone/>
            </a:pPr>
            <a:r>
              <a:rPr b="0" i="0" lang="en-US" sz="1050" u="none" cap="none" strike="noStrike">
                <a:solidFill>
                  <a:srgbClr val="2B2E3C"/>
                </a:solidFill>
                <a:latin typeface="Bitter Medium"/>
                <a:ea typeface="Bitter Medium"/>
                <a:cs typeface="Bitter Medium"/>
                <a:sym typeface="Bitter Medium"/>
              </a:rPr>
              <a:t>1</a:t>
            </a:r>
            <a:endParaRPr b="0" i="0" sz="1050" u="none" cap="none" strike="noStrike">
              <a:solidFill>
                <a:schemeClr val="dk1"/>
              </a:solidFill>
              <a:latin typeface="Calibri"/>
              <a:ea typeface="Calibri"/>
              <a:cs typeface="Calibri"/>
              <a:sym typeface="Calibri"/>
            </a:endParaRPr>
          </a:p>
        </p:txBody>
      </p:sp>
      <p:sp>
        <p:nvSpPr>
          <p:cNvPr id="75" name="Google Shape;75;p9"/>
          <p:cNvSpPr/>
          <p:nvPr/>
        </p:nvSpPr>
        <p:spPr>
          <a:xfrm>
            <a:off x="607814" y="3420368"/>
            <a:ext cx="3819004" cy="1522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900"/>
              <a:buFont typeface="Bitter Medium"/>
              <a:buNone/>
            </a:pPr>
            <a:r>
              <a:rPr b="0" i="0" lang="en-US" sz="900" u="none" cap="none" strike="noStrike">
                <a:solidFill>
                  <a:srgbClr val="2B2E3C"/>
                </a:solidFill>
                <a:latin typeface="Bitter Medium"/>
                <a:ea typeface="Bitter Medium"/>
                <a:cs typeface="Bitter Medium"/>
                <a:sym typeface="Bitter Medium"/>
              </a:rPr>
              <a:t>Perception</a:t>
            </a:r>
            <a:endParaRPr b="0" i="0" sz="900" u="none" cap="none" strike="noStrike">
              <a:solidFill>
                <a:schemeClr val="dk1"/>
              </a:solidFill>
              <a:latin typeface="Calibri"/>
              <a:ea typeface="Calibri"/>
              <a:cs typeface="Calibri"/>
              <a:sym typeface="Calibri"/>
            </a:endParaRPr>
          </a:p>
        </p:txBody>
      </p:sp>
      <p:sp>
        <p:nvSpPr>
          <p:cNvPr id="76" name="Google Shape;76;p9"/>
          <p:cNvSpPr/>
          <p:nvPr/>
        </p:nvSpPr>
        <p:spPr>
          <a:xfrm>
            <a:off x="607814" y="3612803"/>
            <a:ext cx="3819004"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2B2E3C"/>
              </a:buClr>
              <a:buSzPts val="700"/>
              <a:buFont typeface="Open Sans"/>
              <a:buNone/>
            </a:pPr>
            <a:r>
              <a:rPr b="0" i="0" lang="en-US" sz="700" u="none" cap="none" strike="noStrike">
                <a:solidFill>
                  <a:srgbClr val="2B2E3C"/>
                </a:solidFill>
                <a:latin typeface="Open Sans"/>
                <a:ea typeface="Open Sans"/>
                <a:cs typeface="Open Sans"/>
                <a:sym typeface="Open Sans"/>
              </a:rPr>
              <a:t>Logs fine-grained signals: correctness, hint frequency, time-on-step.</a:t>
            </a:r>
            <a:endParaRPr b="0" i="0" sz="700" u="none" cap="none" strike="noStrike">
              <a:solidFill>
                <a:schemeClr val="dk1"/>
              </a:solidFill>
              <a:latin typeface="Calibri"/>
              <a:ea typeface="Calibri"/>
              <a:cs typeface="Calibri"/>
              <a:sym typeface="Calibri"/>
            </a:endParaRPr>
          </a:p>
        </p:txBody>
      </p:sp>
      <p:pic>
        <p:nvPicPr>
          <p:cNvPr descr="preencoded.png" id="77" name="Google Shape;77;p9"/>
          <p:cNvPicPr preferRelativeResize="0"/>
          <p:nvPr/>
        </p:nvPicPr>
        <p:blipFill rotWithShape="1">
          <a:blip r:embed="rId4">
            <a:alphaModFix/>
          </a:blip>
          <a:srcRect b="0" l="0" r="0" t="0"/>
          <a:stretch/>
        </p:blipFill>
        <p:spPr>
          <a:xfrm>
            <a:off x="4605486" y="3046735"/>
            <a:ext cx="4042395" cy="809327"/>
          </a:xfrm>
          <a:prstGeom prst="rect">
            <a:avLst/>
          </a:prstGeom>
          <a:noFill/>
          <a:ln>
            <a:noFill/>
          </a:ln>
        </p:spPr>
      </p:pic>
      <p:sp>
        <p:nvSpPr>
          <p:cNvPr id="78" name="Google Shape;78;p9"/>
          <p:cNvSpPr/>
          <p:nvPr/>
        </p:nvSpPr>
        <p:spPr>
          <a:xfrm>
            <a:off x="6553572" y="3113484"/>
            <a:ext cx="146149" cy="1826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2E3C"/>
              </a:buClr>
              <a:buSzPts val="1050"/>
              <a:buFont typeface="Bitter Medium"/>
              <a:buNone/>
            </a:pPr>
            <a:r>
              <a:rPr b="0" i="0" lang="en-US" sz="1050" u="none" cap="none" strike="noStrike">
                <a:solidFill>
                  <a:srgbClr val="2B2E3C"/>
                </a:solidFill>
                <a:latin typeface="Bitter Medium"/>
                <a:ea typeface="Bitter Medium"/>
                <a:cs typeface="Bitter Medium"/>
                <a:sym typeface="Bitter Medium"/>
              </a:rPr>
              <a:t>2</a:t>
            </a:r>
            <a:endParaRPr b="0" i="0" sz="1050" u="none" cap="none" strike="noStrike">
              <a:solidFill>
                <a:schemeClr val="dk1"/>
              </a:solidFill>
              <a:latin typeface="Calibri"/>
              <a:ea typeface="Calibri"/>
              <a:cs typeface="Calibri"/>
              <a:sym typeface="Calibri"/>
            </a:endParaRPr>
          </a:p>
        </p:txBody>
      </p:sp>
      <p:sp>
        <p:nvSpPr>
          <p:cNvPr id="79" name="Google Shape;79;p9"/>
          <p:cNvSpPr/>
          <p:nvPr/>
        </p:nvSpPr>
        <p:spPr>
          <a:xfrm>
            <a:off x="4717182" y="3420368"/>
            <a:ext cx="3819004" cy="1522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900"/>
              <a:buFont typeface="Bitter Medium"/>
              <a:buNone/>
            </a:pPr>
            <a:r>
              <a:rPr b="0" i="0" lang="en-US" sz="900" u="none" cap="none" strike="noStrike">
                <a:solidFill>
                  <a:srgbClr val="2B2E3C"/>
                </a:solidFill>
                <a:latin typeface="Bitter Medium"/>
                <a:ea typeface="Bitter Medium"/>
                <a:cs typeface="Bitter Medium"/>
                <a:sym typeface="Bitter Medium"/>
              </a:rPr>
              <a:t>Domain Expertise</a:t>
            </a:r>
            <a:endParaRPr b="0" i="0" sz="900" u="none" cap="none" strike="noStrike">
              <a:solidFill>
                <a:schemeClr val="dk1"/>
              </a:solidFill>
              <a:latin typeface="Calibri"/>
              <a:ea typeface="Calibri"/>
              <a:cs typeface="Calibri"/>
              <a:sym typeface="Calibri"/>
            </a:endParaRPr>
          </a:p>
        </p:txBody>
      </p:sp>
      <p:sp>
        <p:nvSpPr>
          <p:cNvPr id="80" name="Google Shape;80;p9"/>
          <p:cNvSpPr/>
          <p:nvPr/>
        </p:nvSpPr>
        <p:spPr>
          <a:xfrm>
            <a:off x="4717182" y="3612803"/>
            <a:ext cx="3819004"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2B2E3C"/>
              </a:buClr>
              <a:buSzPts val="700"/>
              <a:buFont typeface="Open Sans"/>
              <a:buNone/>
            </a:pPr>
            <a:r>
              <a:rPr b="0" i="0" lang="en-US" sz="700" u="none" cap="none" strike="noStrike">
                <a:solidFill>
                  <a:srgbClr val="2B2E3C"/>
                </a:solidFill>
                <a:latin typeface="Open Sans"/>
                <a:ea typeface="Open Sans"/>
                <a:cs typeface="Open Sans"/>
                <a:sym typeface="Open Sans"/>
              </a:rPr>
              <a:t>Content generation, code analysis, worked solutions, semantic feedback.</a:t>
            </a:r>
            <a:endParaRPr b="0" i="0" sz="700" u="none" cap="none" strike="noStrike">
              <a:solidFill>
                <a:schemeClr val="dk1"/>
              </a:solidFill>
              <a:latin typeface="Calibri"/>
              <a:ea typeface="Calibri"/>
              <a:cs typeface="Calibri"/>
              <a:sym typeface="Calibri"/>
            </a:endParaRPr>
          </a:p>
        </p:txBody>
      </p:sp>
      <p:pic>
        <p:nvPicPr>
          <p:cNvPr descr="preencoded.png" id="81" name="Google Shape;81;p9"/>
          <p:cNvPicPr preferRelativeResize="0"/>
          <p:nvPr/>
        </p:nvPicPr>
        <p:blipFill rotWithShape="1">
          <a:blip r:embed="rId4">
            <a:alphaModFix/>
          </a:blip>
          <a:srcRect b="0" l="0" r="0" t="0"/>
          <a:stretch/>
        </p:blipFill>
        <p:spPr>
          <a:xfrm>
            <a:off x="496119" y="3923035"/>
            <a:ext cx="4042395" cy="809327"/>
          </a:xfrm>
          <a:prstGeom prst="rect">
            <a:avLst/>
          </a:prstGeom>
          <a:noFill/>
          <a:ln>
            <a:noFill/>
          </a:ln>
        </p:spPr>
      </p:pic>
      <p:sp>
        <p:nvSpPr>
          <p:cNvPr id="82" name="Google Shape;82;p9"/>
          <p:cNvSpPr/>
          <p:nvPr/>
        </p:nvSpPr>
        <p:spPr>
          <a:xfrm>
            <a:off x="2444204" y="3989784"/>
            <a:ext cx="146149" cy="1826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2E3C"/>
              </a:buClr>
              <a:buSzPts val="1050"/>
              <a:buFont typeface="Bitter Medium"/>
              <a:buNone/>
            </a:pPr>
            <a:r>
              <a:rPr b="0" i="0" lang="en-US" sz="1050" u="none" cap="none" strike="noStrike">
                <a:solidFill>
                  <a:srgbClr val="2B2E3C"/>
                </a:solidFill>
                <a:latin typeface="Bitter Medium"/>
                <a:ea typeface="Bitter Medium"/>
                <a:cs typeface="Bitter Medium"/>
                <a:sym typeface="Bitter Medium"/>
              </a:rPr>
              <a:t>3</a:t>
            </a:r>
            <a:endParaRPr b="0" i="0" sz="1050" u="none" cap="none" strike="noStrike">
              <a:solidFill>
                <a:schemeClr val="dk1"/>
              </a:solidFill>
              <a:latin typeface="Calibri"/>
              <a:ea typeface="Calibri"/>
              <a:cs typeface="Calibri"/>
              <a:sym typeface="Calibri"/>
            </a:endParaRPr>
          </a:p>
        </p:txBody>
      </p:sp>
      <p:sp>
        <p:nvSpPr>
          <p:cNvPr id="83" name="Google Shape;83;p9"/>
          <p:cNvSpPr/>
          <p:nvPr/>
        </p:nvSpPr>
        <p:spPr>
          <a:xfrm>
            <a:off x="607814" y="4296668"/>
            <a:ext cx="3819004" cy="1522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900"/>
              <a:buFont typeface="Bitter Medium"/>
              <a:buNone/>
            </a:pPr>
            <a:r>
              <a:rPr b="0" i="0" lang="en-US" sz="900" u="none" cap="none" strike="noStrike">
                <a:solidFill>
                  <a:srgbClr val="2B2E3C"/>
                </a:solidFill>
                <a:latin typeface="Bitter Medium"/>
                <a:ea typeface="Bitter Medium"/>
                <a:cs typeface="Bitter Medium"/>
                <a:sym typeface="Bitter Medium"/>
              </a:rPr>
              <a:t>Coordination</a:t>
            </a:r>
            <a:endParaRPr b="0" i="0" sz="900" u="none" cap="none" strike="noStrike">
              <a:solidFill>
                <a:schemeClr val="dk1"/>
              </a:solidFill>
              <a:latin typeface="Calibri"/>
              <a:ea typeface="Calibri"/>
              <a:cs typeface="Calibri"/>
              <a:sym typeface="Calibri"/>
            </a:endParaRPr>
          </a:p>
        </p:txBody>
      </p:sp>
      <p:sp>
        <p:nvSpPr>
          <p:cNvPr id="84" name="Google Shape;84;p9"/>
          <p:cNvSpPr/>
          <p:nvPr/>
        </p:nvSpPr>
        <p:spPr>
          <a:xfrm>
            <a:off x="607814" y="4489103"/>
            <a:ext cx="3819004"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2B2E3C"/>
              </a:buClr>
              <a:buSzPts val="700"/>
              <a:buFont typeface="Open Sans"/>
              <a:buNone/>
            </a:pPr>
            <a:r>
              <a:rPr b="0" i="0" lang="en-US" sz="700" u="none" cap="none" strike="noStrike">
                <a:solidFill>
                  <a:srgbClr val="2B2E3C"/>
                </a:solidFill>
                <a:latin typeface="Open Sans"/>
                <a:ea typeface="Open Sans"/>
                <a:cs typeface="Open Sans"/>
                <a:sym typeface="Open Sans"/>
              </a:rPr>
              <a:t>Routers, difficulty scalers, and ensemble synthesis for responses.</a:t>
            </a:r>
            <a:endParaRPr b="0" i="0" sz="700" u="none" cap="none" strike="noStrike">
              <a:solidFill>
                <a:schemeClr val="dk1"/>
              </a:solidFill>
              <a:latin typeface="Calibri"/>
              <a:ea typeface="Calibri"/>
              <a:cs typeface="Calibri"/>
              <a:sym typeface="Calibri"/>
            </a:endParaRPr>
          </a:p>
        </p:txBody>
      </p:sp>
      <p:pic>
        <p:nvPicPr>
          <p:cNvPr descr="preencoded.png" id="85" name="Google Shape;85;p9"/>
          <p:cNvPicPr preferRelativeResize="0"/>
          <p:nvPr/>
        </p:nvPicPr>
        <p:blipFill rotWithShape="1">
          <a:blip r:embed="rId4">
            <a:alphaModFix/>
          </a:blip>
          <a:srcRect b="0" l="0" r="0" t="0"/>
          <a:stretch/>
        </p:blipFill>
        <p:spPr>
          <a:xfrm>
            <a:off x="4605486" y="3923035"/>
            <a:ext cx="4042395" cy="809327"/>
          </a:xfrm>
          <a:prstGeom prst="rect">
            <a:avLst/>
          </a:prstGeom>
          <a:noFill/>
          <a:ln>
            <a:noFill/>
          </a:ln>
        </p:spPr>
      </p:pic>
      <p:sp>
        <p:nvSpPr>
          <p:cNvPr id="86" name="Google Shape;86;p9"/>
          <p:cNvSpPr/>
          <p:nvPr/>
        </p:nvSpPr>
        <p:spPr>
          <a:xfrm>
            <a:off x="6553572" y="3989784"/>
            <a:ext cx="146149" cy="18268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B2E3C"/>
              </a:buClr>
              <a:buSzPts val="1050"/>
              <a:buFont typeface="Bitter Medium"/>
              <a:buNone/>
            </a:pPr>
            <a:r>
              <a:rPr b="0" i="0" lang="en-US" sz="1050" u="none" cap="none" strike="noStrike">
                <a:solidFill>
                  <a:srgbClr val="2B2E3C"/>
                </a:solidFill>
                <a:latin typeface="Bitter Medium"/>
                <a:ea typeface="Bitter Medium"/>
                <a:cs typeface="Bitter Medium"/>
                <a:sym typeface="Bitter Medium"/>
              </a:rPr>
              <a:t>4</a:t>
            </a:r>
            <a:endParaRPr b="0" i="0" sz="1050" u="none" cap="none" strike="noStrike">
              <a:solidFill>
                <a:schemeClr val="dk1"/>
              </a:solidFill>
              <a:latin typeface="Calibri"/>
              <a:ea typeface="Calibri"/>
              <a:cs typeface="Calibri"/>
              <a:sym typeface="Calibri"/>
            </a:endParaRPr>
          </a:p>
        </p:txBody>
      </p:sp>
      <p:sp>
        <p:nvSpPr>
          <p:cNvPr id="87" name="Google Shape;87;p9"/>
          <p:cNvSpPr/>
          <p:nvPr/>
        </p:nvSpPr>
        <p:spPr>
          <a:xfrm>
            <a:off x="4717182" y="4296668"/>
            <a:ext cx="3819004" cy="1522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850"/>
              <a:buFont typeface="Bitter Medium"/>
              <a:buNone/>
            </a:pPr>
            <a:r>
              <a:rPr b="0" i="0" lang="en-US" sz="850" u="none" cap="none" strike="noStrike">
                <a:solidFill>
                  <a:srgbClr val="2B2E3C"/>
                </a:solidFill>
                <a:latin typeface="Bitter Medium"/>
                <a:ea typeface="Bitter Medium"/>
                <a:cs typeface="Bitter Medium"/>
                <a:sym typeface="Bitter Medium"/>
              </a:rPr>
              <a:t>Strategic Planning</a:t>
            </a:r>
            <a:endParaRPr b="0" i="0" sz="850" u="none" cap="none" strike="noStrike">
              <a:solidFill>
                <a:schemeClr val="dk1"/>
              </a:solidFill>
              <a:latin typeface="Calibri"/>
              <a:ea typeface="Calibri"/>
              <a:cs typeface="Calibri"/>
              <a:sym typeface="Calibri"/>
            </a:endParaRPr>
          </a:p>
        </p:txBody>
      </p:sp>
      <p:sp>
        <p:nvSpPr>
          <p:cNvPr id="88" name="Google Shape;88;p9"/>
          <p:cNvSpPr/>
          <p:nvPr/>
        </p:nvSpPr>
        <p:spPr>
          <a:xfrm>
            <a:off x="4717182" y="4489103"/>
            <a:ext cx="3819004" cy="131564"/>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2B2E3C"/>
              </a:buClr>
              <a:buSzPts val="700"/>
              <a:buFont typeface="Open Sans"/>
              <a:buNone/>
            </a:pPr>
            <a:r>
              <a:rPr b="0" i="0" lang="en-US" sz="700" u="none" cap="none" strike="noStrike">
                <a:solidFill>
                  <a:srgbClr val="2B2E3C"/>
                </a:solidFill>
                <a:latin typeface="Open Sans"/>
                <a:ea typeface="Open Sans"/>
                <a:cs typeface="Open Sans"/>
                <a:sym typeface="Open Sans"/>
              </a:rPr>
              <a:t>Long-term personalization, curriculum sequencing, and policy updates.</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preencoded.png" id="94" name="Google Shape;94;p10"/>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95" name="Google Shape;95;p10"/>
          <p:cNvSpPr/>
          <p:nvPr/>
        </p:nvSpPr>
        <p:spPr>
          <a:xfrm>
            <a:off x="496119" y="419398"/>
            <a:ext cx="4722763" cy="13289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Feedback That Teaches: Immediate, Corrective, Actionable</a:t>
            </a:r>
            <a:endParaRPr b="0" i="0" sz="2600" u="none" cap="none" strike="noStrike">
              <a:solidFill>
                <a:schemeClr val="dk1"/>
              </a:solidFill>
              <a:latin typeface="Calibri"/>
              <a:ea typeface="Calibri"/>
              <a:cs typeface="Calibri"/>
              <a:sym typeface="Calibri"/>
            </a:endParaRPr>
          </a:p>
        </p:txBody>
      </p:sp>
      <p:sp>
        <p:nvSpPr>
          <p:cNvPr id="96" name="Google Shape;96;p10"/>
          <p:cNvSpPr/>
          <p:nvPr/>
        </p:nvSpPr>
        <p:spPr>
          <a:xfrm>
            <a:off x="496119" y="1960959"/>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E3C"/>
              </a:buClr>
              <a:buSzPts val="1050"/>
              <a:buFont typeface="Bitter Light"/>
              <a:buNone/>
            </a:pPr>
            <a:r>
              <a:rPr b="0" i="0" lang="en-US" sz="1050" u="none" cap="none" strike="noStrike">
                <a:solidFill>
                  <a:srgbClr val="2B2E3C"/>
                </a:solidFill>
                <a:latin typeface="Bitter Light"/>
                <a:ea typeface="Bitter Light"/>
                <a:cs typeface="Bitter Light"/>
                <a:sym typeface="Bitter Light"/>
              </a:rPr>
              <a:t>01</a:t>
            </a:r>
            <a:endParaRPr b="0" i="0" sz="1050" u="none" cap="none" strike="noStrike">
              <a:solidFill>
                <a:schemeClr val="dk1"/>
              </a:solidFill>
              <a:latin typeface="Calibri"/>
              <a:ea typeface="Calibri"/>
              <a:cs typeface="Calibri"/>
              <a:sym typeface="Calibri"/>
            </a:endParaRPr>
          </a:p>
        </p:txBody>
      </p:sp>
      <p:sp>
        <p:nvSpPr>
          <p:cNvPr id="97" name="Google Shape;97;p10"/>
          <p:cNvSpPr/>
          <p:nvPr/>
        </p:nvSpPr>
        <p:spPr>
          <a:xfrm>
            <a:off x="496119" y="2182862"/>
            <a:ext cx="2290465" cy="19050"/>
          </a:xfrm>
          <a:prstGeom prst="rect">
            <a:avLst/>
          </a:prstGeom>
          <a:solidFill>
            <a:srgbClr val="D260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0"/>
          <p:cNvSpPr/>
          <p:nvPr/>
        </p:nvSpPr>
        <p:spPr>
          <a:xfrm>
            <a:off x="496119" y="2291804"/>
            <a:ext cx="22904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Acknowledge</a:t>
            </a:r>
            <a:endParaRPr b="0" i="0" sz="1300" u="none" cap="none" strike="noStrike">
              <a:solidFill>
                <a:schemeClr val="dk1"/>
              </a:solidFill>
              <a:latin typeface="Calibri"/>
              <a:ea typeface="Calibri"/>
              <a:cs typeface="Calibri"/>
              <a:sym typeface="Calibri"/>
            </a:endParaRPr>
          </a:p>
        </p:txBody>
      </p:sp>
      <p:sp>
        <p:nvSpPr>
          <p:cNvPr id="99" name="Google Shape;99;p10"/>
          <p:cNvSpPr/>
          <p:nvPr/>
        </p:nvSpPr>
        <p:spPr>
          <a:xfrm>
            <a:off x="496119" y="2598316"/>
            <a:ext cx="2290465"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Recognize attempted strategy to reinforce effort and reduce defensiveness.</a:t>
            </a:r>
            <a:endParaRPr b="0" i="0" sz="1050" u="none" cap="none" strike="noStrike">
              <a:solidFill>
                <a:schemeClr val="dk1"/>
              </a:solidFill>
              <a:latin typeface="Calibri"/>
              <a:ea typeface="Calibri"/>
              <a:cs typeface="Calibri"/>
              <a:sym typeface="Calibri"/>
            </a:endParaRPr>
          </a:p>
        </p:txBody>
      </p:sp>
      <p:sp>
        <p:nvSpPr>
          <p:cNvPr id="100" name="Google Shape;100;p10"/>
          <p:cNvSpPr/>
          <p:nvPr/>
        </p:nvSpPr>
        <p:spPr>
          <a:xfrm>
            <a:off x="2928342" y="1960959"/>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E3C"/>
              </a:buClr>
              <a:buSzPts val="1050"/>
              <a:buFont typeface="Bitter Light"/>
              <a:buNone/>
            </a:pPr>
            <a:r>
              <a:rPr b="0" i="0" lang="en-US" sz="1050" u="none" cap="none" strike="noStrike">
                <a:solidFill>
                  <a:srgbClr val="2B2E3C"/>
                </a:solidFill>
                <a:latin typeface="Bitter Light"/>
                <a:ea typeface="Bitter Light"/>
                <a:cs typeface="Bitter Light"/>
                <a:sym typeface="Bitter Light"/>
              </a:rPr>
              <a:t>02</a:t>
            </a:r>
            <a:endParaRPr b="0" i="0" sz="1050" u="none" cap="none" strike="noStrike">
              <a:solidFill>
                <a:schemeClr val="dk1"/>
              </a:solidFill>
              <a:latin typeface="Calibri"/>
              <a:ea typeface="Calibri"/>
              <a:cs typeface="Calibri"/>
              <a:sym typeface="Calibri"/>
            </a:endParaRPr>
          </a:p>
        </p:txBody>
      </p:sp>
      <p:sp>
        <p:nvSpPr>
          <p:cNvPr id="101" name="Google Shape;101;p10"/>
          <p:cNvSpPr/>
          <p:nvPr/>
        </p:nvSpPr>
        <p:spPr>
          <a:xfrm>
            <a:off x="2928342" y="2182862"/>
            <a:ext cx="2290539" cy="19050"/>
          </a:xfrm>
          <a:prstGeom prst="rect">
            <a:avLst/>
          </a:prstGeom>
          <a:solidFill>
            <a:srgbClr val="D260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a:off x="2928342" y="2291804"/>
            <a:ext cx="2290539"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Evaluate</a:t>
            </a:r>
            <a:endParaRPr b="0" i="0" sz="1300" u="none" cap="none" strike="noStrike">
              <a:solidFill>
                <a:schemeClr val="dk1"/>
              </a:solidFill>
              <a:latin typeface="Calibri"/>
              <a:ea typeface="Calibri"/>
              <a:cs typeface="Calibri"/>
              <a:sym typeface="Calibri"/>
            </a:endParaRPr>
          </a:p>
        </p:txBody>
      </p:sp>
      <p:sp>
        <p:nvSpPr>
          <p:cNvPr id="103" name="Google Shape;103;p10"/>
          <p:cNvSpPr/>
          <p:nvPr/>
        </p:nvSpPr>
        <p:spPr>
          <a:xfrm>
            <a:off x="2928342" y="2598316"/>
            <a:ext cx="2290539"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Provide concise, criterion-based assessment tied to explicit objectives.</a:t>
            </a:r>
            <a:endParaRPr b="0" i="0" sz="1050" u="none" cap="none" strike="noStrike">
              <a:solidFill>
                <a:schemeClr val="dk1"/>
              </a:solidFill>
              <a:latin typeface="Calibri"/>
              <a:ea typeface="Calibri"/>
              <a:cs typeface="Calibri"/>
              <a:sym typeface="Calibri"/>
            </a:endParaRPr>
          </a:p>
        </p:txBody>
      </p:sp>
      <p:sp>
        <p:nvSpPr>
          <p:cNvPr id="104" name="Google Shape;104;p10"/>
          <p:cNvSpPr/>
          <p:nvPr/>
        </p:nvSpPr>
        <p:spPr>
          <a:xfrm>
            <a:off x="496119" y="352678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B2E3C"/>
              </a:buClr>
              <a:buSzPts val="1050"/>
              <a:buFont typeface="Bitter Light"/>
              <a:buNone/>
            </a:pPr>
            <a:r>
              <a:rPr b="0" i="0" lang="en-US" sz="1050" u="none" cap="none" strike="noStrike">
                <a:solidFill>
                  <a:srgbClr val="2B2E3C"/>
                </a:solidFill>
                <a:latin typeface="Bitter Light"/>
                <a:ea typeface="Bitter Light"/>
                <a:cs typeface="Bitter Light"/>
                <a:sym typeface="Bitter Light"/>
              </a:rPr>
              <a:t>03</a:t>
            </a:r>
            <a:endParaRPr b="0" i="0" sz="1050" u="none" cap="none" strike="noStrike">
              <a:solidFill>
                <a:schemeClr val="dk1"/>
              </a:solidFill>
              <a:latin typeface="Calibri"/>
              <a:ea typeface="Calibri"/>
              <a:cs typeface="Calibri"/>
              <a:sym typeface="Calibri"/>
            </a:endParaRPr>
          </a:p>
        </p:txBody>
      </p:sp>
      <p:sp>
        <p:nvSpPr>
          <p:cNvPr id="105" name="Google Shape;105;p10"/>
          <p:cNvSpPr/>
          <p:nvPr/>
        </p:nvSpPr>
        <p:spPr>
          <a:xfrm>
            <a:off x="496119" y="3748683"/>
            <a:ext cx="4722763" cy="19050"/>
          </a:xfrm>
          <a:prstGeom prst="rect">
            <a:avLst/>
          </a:prstGeom>
          <a:solidFill>
            <a:srgbClr val="D260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496119" y="3857625"/>
            <a:ext cx="4722763"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Correct &amp; Scaffold</a:t>
            </a:r>
            <a:endParaRPr b="0" i="0" sz="1300" u="none" cap="none" strike="noStrike">
              <a:solidFill>
                <a:schemeClr val="dk1"/>
              </a:solidFill>
              <a:latin typeface="Calibri"/>
              <a:ea typeface="Calibri"/>
              <a:cs typeface="Calibri"/>
              <a:sym typeface="Calibri"/>
            </a:endParaRPr>
          </a:p>
        </p:txBody>
      </p:sp>
      <p:sp>
        <p:nvSpPr>
          <p:cNvPr id="107" name="Google Shape;107;p10"/>
          <p:cNvSpPr/>
          <p:nvPr/>
        </p:nvSpPr>
        <p:spPr>
          <a:xfrm>
            <a:off x="496119" y="4164137"/>
            <a:ext cx="4722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Offer targeted repairs: example comparisons, guided prompts, next-step practice.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1"/>
          <p:cNvSpPr/>
          <p:nvPr/>
        </p:nvSpPr>
        <p:spPr>
          <a:xfrm>
            <a:off x="496119" y="890215"/>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Curating Learning Materials: Agent-Driven Delivery (ILMDA)</a:t>
            </a:r>
            <a:endParaRPr b="0" i="0" sz="2600" u="none" cap="none" strike="noStrike">
              <a:solidFill>
                <a:schemeClr val="dk1"/>
              </a:solidFill>
              <a:latin typeface="Calibri"/>
              <a:ea typeface="Calibri"/>
              <a:cs typeface="Calibri"/>
              <a:sym typeface="Calibri"/>
            </a:endParaRPr>
          </a:p>
        </p:txBody>
      </p:sp>
      <p:pic>
        <p:nvPicPr>
          <p:cNvPr descr="preencoded.png" id="114" name="Google Shape;114;p11"/>
          <p:cNvPicPr preferRelativeResize="0"/>
          <p:nvPr/>
        </p:nvPicPr>
        <p:blipFill rotWithShape="1">
          <a:blip r:embed="rId3">
            <a:alphaModFix/>
          </a:blip>
          <a:srcRect b="0" l="0" r="0" t="0"/>
          <a:stretch/>
        </p:blipFill>
        <p:spPr>
          <a:xfrm>
            <a:off x="496119" y="2148260"/>
            <a:ext cx="409798" cy="512192"/>
          </a:xfrm>
          <a:prstGeom prst="rect">
            <a:avLst/>
          </a:prstGeom>
          <a:noFill/>
          <a:ln>
            <a:noFill/>
          </a:ln>
        </p:spPr>
      </p:pic>
      <p:sp>
        <p:nvSpPr>
          <p:cNvPr id="115" name="Google Shape;115;p11"/>
          <p:cNvSpPr/>
          <p:nvPr/>
        </p:nvSpPr>
        <p:spPr>
          <a:xfrm>
            <a:off x="1083097" y="2148260"/>
            <a:ext cx="1275904"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Case-based Reasoning</a:t>
            </a:r>
            <a:endParaRPr b="0" i="0" sz="1300" u="none" cap="none" strike="noStrike">
              <a:solidFill>
                <a:schemeClr val="dk1"/>
              </a:solidFill>
              <a:latin typeface="Calibri"/>
              <a:ea typeface="Calibri"/>
              <a:cs typeface="Calibri"/>
              <a:sym typeface="Calibri"/>
            </a:endParaRPr>
          </a:p>
        </p:txBody>
      </p:sp>
      <p:sp>
        <p:nvSpPr>
          <p:cNvPr id="116" name="Google Shape;116;p11"/>
          <p:cNvSpPr/>
          <p:nvPr/>
        </p:nvSpPr>
        <p:spPr>
          <a:xfrm>
            <a:off x="1083097" y="2732931"/>
            <a:ext cx="1275904" cy="113407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Match new tasks to previously effective exemplars for similar learner profiles.</a:t>
            </a:r>
            <a:endParaRPr b="0" i="0" sz="1050" u="none" cap="none" strike="noStrike">
              <a:solidFill>
                <a:schemeClr val="dk1"/>
              </a:solidFill>
              <a:latin typeface="Calibri"/>
              <a:ea typeface="Calibri"/>
              <a:cs typeface="Calibri"/>
              <a:sym typeface="Calibri"/>
            </a:endParaRPr>
          </a:p>
        </p:txBody>
      </p:sp>
      <p:pic>
        <p:nvPicPr>
          <p:cNvPr descr="preencoded.png" id="117" name="Google Shape;117;p11"/>
          <p:cNvPicPr preferRelativeResize="0"/>
          <p:nvPr/>
        </p:nvPicPr>
        <p:blipFill rotWithShape="1">
          <a:blip r:embed="rId4">
            <a:alphaModFix/>
          </a:blip>
          <a:srcRect b="0" l="0" r="0" t="0"/>
          <a:stretch/>
        </p:blipFill>
        <p:spPr>
          <a:xfrm>
            <a:off x="2536180" y="2148260"/>
            <a:ext cx="409798" cy="512192"/>
          </a:xfrm>
          <a:prstGeom prst="rect">
            <a:avLst/>
          </a:prstGeom>
          <a:noFill/>
          <a:ln>
            <a:noFill/>
          </a:ln>
        </p:spPr>
      </p:pic>
      <p:sp>
        <p:nvSpPr>
          <p:cNvPr id="118" name="Google Shape;118;p11"/>
          <p:cNvSpPr/>
          <p:nvPr/>
        </p:nvSpPr>
        <p:spPr>
          <a:xfrm>
            <a:off x="3123158" y="2148260"/>
            <a:ext cx="1275904"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300"/>
              <a:buFont typeface="Bitter Medium"/>
              <a:buNone/>
            </a:pPr>
            <a:r>
              <a:rPr b="0" i="0" lang="en-US" sz="1300" u="none" cap="none" strike="noStrike">
                <a:solidFill>
                  <a:srgbClr val="2B2E3C"/>
                </a:solidFill>
                <a:latin typeface="Bitter Medium"/>
                <a:ea typeface="Bitter Medium"/>
                <a:cs typeface="Bitter Medium"/>
                <a:sym typeface="Bitter Medium"/>
              </a:rPr>
              <a:t>ML + Fuzzy Logic</a:t>
            </a:r>
            <a:endParaRPr b="0" i="0" sz="1300" u="none" cap="none" strike="noStrike">
              <a:solidFill>
                <a:schemeClr val="dk1"/>
              </a:solidFill>
              <a:latin typeface="Calibri"/>
              <a:ea typeface="Calibri"/>
              <a:cs typeface="Calibri"/>
              <a:sym typeface="Calibri"/>
            </a:endParaRPr>
          </a:p>
        </p:txBody>
      </p:sp>
      <p:sp>
        <p:nvSpPr>
          <p:cNvPr id="119" name="Google Shape;119;p11"/>
          <p:cNvSpPr/>
          <p:nvPr/>
        </p:nvSpPr>
        <p:spPr>
          <a:xfrm>
            <a:off x="3123158" y="2732931"/>
            <a:ext cx="1275904" cy="136088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Blend probabilistic predictions with soft rules to pick materials that fit uncertainty in learner state.</a:t>
            </a:r>
            <a:endParaRPr b="0" i="0" sz="1050" u="none" cap="none" strike="noStrike">
              <a:solidFill>
                <a:schemeClr val="dk1"/>
              </a:solidFill>
              <a:latin typeface="Calibri"/>
              <a:ea typeface="Calibri"/>
              <a:cs typeface="Calibri"/>
              <a:sym typeface="Calibri"/>
            </a:endParaRPr>
          </a:p>
        </p:txBody>
      </p:sp>
      <p:sp>
        <p:nvSpPr>
          <p:cNvPr id="120" name="Google Shape;120;p11"/>
          <p:cNvSpPr/>
          <p:nvPr/>
        </p:nvSpPr>
        <p:spPr>
          <a:xfrm>
            <a:off x="4749701" y="2181895"/>
            <a:ext cx="3902943"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Simulation evidence: after targeted phases, average problem scores rose notably (system logs: pre-phase 0.407 → post-phase 0.568). ILMDA personalizes content sequencing and format (video, worked example, interactive).       </a:t>
            </a:r>
            <a:endParaRPr b="0" i="0" sz="1050" u="none" cap="none" strike="noStrike">
              <a:solidFill>
                <a:schemeClr val="dk1"/>
              </a:solidFill>
              <a:latin typeface="Calibri"/>
              <a:ea typeface="Calibri"/>
              <a:cs typeface="Calibri"/>
              <a:sym typeface="Calibri"/>
            </a:endParaRPr>
          </a:p>
        </p:txBody>
      </p:sp>
      <p:sp>
        <p:nvSpPr>
          <p:cNvPr id="121" name="Google Shape;121;p11"/>
          <p:cNvSpPr/>
          <p:nvPr/>
        </p:nvSpPr>
        <p:spPr>
          <a:xfrm>
            <a:off x="4749701" y="3248620"/>
            <a:ext cx="3902943" cy="779562"/>
          </a:xfrm>
          <a:prstGeom prst="roundRect">
            <a:avLst>
              <a:gd fmla="val 7638" name="adj"/>
            </a:avLst>
          </a:prstGeom>
          <a:solidFill>
            <a:srgbClr val="FCE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2" name="Google Shape;122;p11"/>
          <p:cNvPicPr preferRelativeResize="0"/>
          <p:nvPr/>
        </p:nvPicPr>
        <p:blipFill rotWithShape="1">
          <a:blip r:embed="rId5">
            <a:alphaModFix/>
          </a:blip>
          <a:srcRect b="0" l="0" r="0" t="0"/>
          <a:stretch/>
        </p:blipFill>
        <p:spPr>
          <a:xfrm>
            <a:off x="4891460" y="3468439"/>
            <a:ext cx="177180" cy="141759"/>
          </a:xfrm>
          <a:prstGeom prst="rect">
            <a:avLst/>
          </a:prstGeom>
          <a:noFill/>
          <a:ln>
            <a:noFill/>
          </a:ln>
        </p:spPr>
      </p:pic>
      <p:sp>
        <p:nvSpPr>
          <p:cNvPr id="123" name="Google Shape;123;p11"/>
          <p:cNvSpPr/>
          <p:nvPr/>
        </p:nvSpPr>
        <p:spPr>
          <a:xfrm>
            <a:off x="5210398" y="3411587"/>
            <a:ext cx="3300487"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1050"/>
              <a:buFont typeface="Open Sans"/>
              <a:buNone/>
            </a:pPr>
            <a:r>
              <a:rPr b="0" i="0" lang="en-US" sz="1050" u="none" cap="none" strike="noStrike">
                <a:solidFill>
                  <a:srgbClr val="000000"/>
                </a:solidFill>
                <a:latin typeface="Open Sans"/>
                <a:ea typeface="Open Sans"/>
                <a:cs typeface="Open Sans"/>
                <a:sym typeface="Open Sans"/>
              </a:rPr>
              <a:t> Combine algorithmic curation with human-curated checks for domain sensitivity and alignment.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p:nvPr/>
        </p:nvSpPr>
        <p:spPr>
          <a:xfrm>
            <a:off x="496119" y="760884"/>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600"/>
              <a:buFont typeface="Bitter Medium"/>
              <a:buNone/>
            </a:pPr>
            <a:r>
              <a:rPr b="0" i="0" lang="en-US" sz="2600" u="none" cap="none" strike="noStrike">
                <a:solidFill>
                  <a:srgbClr val="2C3F42"/>
                </a:solidFill>
                <a:latin typeface="Bitter Medium"/>
                <a:ea typeface="Bitter Medium"/>
                <a:cs typeface="Bitter Medium"/>
                <a:sym typeface="Bitter Medium"/>
              </a:rPr>
              <a:t>Distributed Data Integration with PySpark (Scalable Learning Ops)</a:t>
            </a:r>
            <a:endParaRPr b="0" i="0" sz="2600" u="none" cap="none" strike="noStrike">
              <a:solidFill>
                <a:schemeClr val="dk1"/>
              </a:solidFill>
              <a:latin typeface="Calibri"/>
              <a:ea typeface="Calibri"/>
              <a:cs typeface="Calibri"/>
              <a:sym typeface="Calibri"/>
            </a:endParaRPr>
          </a:p>
        </p:txBody>
      </p:sp>
      <p:pic>
        <p:nvPicPr>
          <p:cNvPr descr="preencoded.png" id="130" name="Google Shape;130;p12"/>
          <p:cNvPicPr preferRelativeResize="0"/>
          <p:nvPr/>
        </p:nvPicPr>
        <p:blipFill rotWithShape="1">
          <a:blip r:embed="rId3">
            <a:alphaModFix/>
          </a:blip>
          <a:srcRect b="0" l="0" r="0" t="0"/>
          <a:stretch/>
        </p:blipFill>
        <p:spPr>
          <a:xfrm>
            <a:off x="496119" y="2135535"/>
            <a:ext cx="3478039" cy="1970856"/>
          </a:xfrm>
          <a:prstGeom prst="rect">
            <a:avLst/>
          </a:prstGeom>
          <a:noFill/>
          <a:ln>
            <a:noFill/>
          </a:ln>
        </p:spPr>
      </p:pic>
      <p:sp>
        <p:nvSpPr>
          <p:cNvPr id="131" name="Google Shape;131;p12"/>
          <p:cNvSpPr/>
          <p:nvPr/>
        </p:nvSpPr>
        <p:spPr>
          <a:xfrm>
            <a:off x="4324796" y="1987004"/>
            <a:ext cx="4327773" cy="1460004"/>
          </a:xfrm>
          <a:prstGeom prst="rect">
            <a:avLst/>
          </a:prstGeom>
          <a:noFill/>
          <a:ln>
            <a:noFill/>
          </a:ln>
        </p:spPr>
        <p:txBody>
          <a:bodyPr anchorCtr="0" anchor="t" bIns="0" lIns="0" spcFirstLastPara="1" rIns="0" wrap="square" tIns="56700">
            <a:noAutofit/>
          </a:bodyPr>
          <a:lstStyle/>
          <a:p>
            <a:pPr indent="-213360" lvl="0" marL="213360" marR="0" rtl="0" algn="l">
              <a:lnSpc>
                <a:spcPct val="133000"/>
              </a:lnSpc>
              <a:spcBef>
                <a:spcPts val="0"/>
              </a:spcBef>
              <a:spcAft>
                <a:spcPts val="0"/>
              </a:spcAft>
              <a:buClr>
                <a:srgbClr val="2B2E3C"/>
              </a:buClr>
              <a:buSzPts val="1050"/>
              <a:buFont typeface="Open Sans"/>
              <a:buChar char="•"/>
            </a:pPr>
            <a:r>
              <a:rPr b="0" i="0" lang="en-US" sz="1050" u="none" cap="none" strike="noStrike">
                <a:solidFill>
                  <a:srgbClr val="2B2E3C"/>
                </a:solidFill>
                <a:latin typeface="Open Sans"/>
                <a:ea typeface="Open Sans"/>
                <a:cs typeface="Open Sans"/>
                <a:sym typeface="Open Sans"/>
              </a:rPr>
              <a:t>Write learner artifacts (skill graphs, error taxonomies, engagement time series) to a learner-model store.</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2B2E3C"/>
              </a:buClr>
              <a:buSzPts val="1050"/>
              <a:buFont typeface="Open Sans"/>
              <a:buChar char="•"/>
            </a:pPr>
            <a:r>
              <a:rPr b="0" i="0" lang="en-US" sz="1050" u="none" cap="none" strike="noStrike">
                <a:solidFill>
                  <a:srgbClr val="2B2E3C"/>
                </a:solidFill>
                <a:latin typeface="Open Sans"/>
                <a:ea typeface="Open Sans"/>
                <a:cs typeface="Open Sans"/>
                <a:sym typeface="Open Sans"/>
              </a:rPr>
              <a:t>Use PySpark for distributed feature engineering over large logs: session attempts, dwell time, hint patterns.</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2B2E3C"/>
              </a:buClr>
              <a:buSzPts val="1050"/>
              <a:buFont typeface="Open Sans"/>
              <a:buChar char="•"/>
            </a:pPr>
            <a:r>
              <a:rPr b="0" i="0" lang="en-US" sz="1050" u="none" cap="none" strike="noStrike">
                <a:solidFill>
                  <a:srgbClr val="2B2E3C"/>
                </a:solidFill>
                <a:latin typeface="Open Sans"/>
                <a:ea typeface="Open Sans"/>
                <a:cs typeface="Open Sans"/>
                <a:sym typeface="Open Sans"/>
              </a:rPr>
              <a:t>Aggregate temporal signals to produce refreshed features that strategic agents consume on schedule (daily/weekly).</a:t>
            </a:r>
            <a:endParaRPr b="0" i="0" sz="1050" u="none" cap="none" strike="noStrike">
              <a:solidFill>
                <a:schemeClr val="dk1"/>
              </a:solidFill>
              <a:latin typeface="Calibri"/>
              <a:ea typeface="Calibri"/>
              <a:cs typeface="Calibri"/>
              <a:sym typeface="Calibri"/>
            </a:endParaRPr>
          </a:p>
        </p:txBody>
      </p:sp>
      <p:sp>
        <p:nvSpPr>
          <p:cNvPr id="132" name="Google Shape;132;p12"/>
          <p:cNvSpPr/>
          <p:nvPr/>
        </p:nvSpPr>
        <p:spPr>
          <a:xfrm>
            <a:off x="4324796" y="3574554"/>
            <a:ext cx="4327773"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2B2E3C"/>
              </a:buClr>
              <a:buSzPts val="1050"/>
              <a:buFont typeface="Open Sans"/>
              <a:buNone/>
            </a:pPr>
            <a:r>
              <a:rPr b="0" i="0" lang="en-US" sz="1050" u="none" cap="none" strike="noStrike">
                <a:solidFill>
                  <a:srgbClr val="2B2E3C"/>
                </a:solidFill>
                <a:latin typeface="Open Sans"/>
                <a:ea typeface="Open Sans"/>
                <a:cs typeface="Open Sans"/>
                <a:sym typeface="Open Sans"/>
              </a:rPr>
              <a:t> Design tip: keep transform logic idempotent, version feature schema, and enable stream + batch hybrid processing for low-latency updates.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preencoded.png" id="138" name="Google Shape;138;p13"/>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139" name="Google Shape;139;p13"/>
          <p:cNvSpPr/>
          <p:nvPr/>
        </p:nvSpPr>
        <p:spPr>
          <a:xfrm>
            <a:off x="3925119" y="429667"/>
            <a:ext cx="4722763" cy="12668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C3F42"/>
              </a:buClr>
              <a:buSzPts val="2450"/>
              <a:buFont typeface="Bitter Medium"/>
              <a:buNone/>
            </a:pPr>
            <a:r>
              <a:rPr b="0" i="0" lang="en-US" sz="2450" u="none" cap="none" strike="noStrike">
                <a:solidFill>
                  <a:srgbClr val="2C3F42"/>
                </a:solidFill>
                <a:latin typeface="Bitter Medium"/>
                <a:ea typeface="Bitter Medium"/>
                <a:cs typeface="Bitter Medium"/>
                <a:sym typeface="Bitter Medium"/>
              </a:rPr>
              <a:t>Conclusion — A System That Improves With Every Interaction</a:t>
            </a:r>
            <a:endParaRPr b="0" i="0" sz="2450" u="none" cap="none" strike="noStrike">
              <a:solidFill>
                <a:schemeClr val="dk1"/>
              </a:solidFill>
              <a:latin typeface="Calibri"/>
              <a:ea typeface="Calibri"/>
              <a:cs typeface="Calibri"/>
              <a:sym typeface="Calibri"/>
            </a:endParaRPr>
          </a:p>
        </p:txBody>
      </p:sp>
      <p:sp>
        <p:nvSpPr>
          <p:cNvPr id="140" name="Google Shape;140;p13"/>
          <p:cNvSpPr/>
          <p:nvPr/>
        </p:nvSpPr>
        <p:spPr>
          <a:xfrm>
            <a:off x="3925119" y="1889745"/>
            <a:ext cx="1488430" cy="2045791"/>
          </a:xfrm>
          <a:prstGeom prst="roundRect">
            <a:avLst>
              <a:gd fmla="val 3813" name="adj"/>
            </a:avLst>
          </a:prstGeom>
          <a:solidFill>
            <a:srgbClr val="FCE2CF"/>
          </a:solidFill>
          <a:ln cap="flat" cmpd="sng" w="9525">
            <a:solidFill>
              <a:srgbClr val="E2C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a:off x="4064943" y="2029569"/>
            <a:ext cx="1208782" cy="63333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200"/>
              <a:buFont typeface="Bitter Medium"/>
              <a:buNone/>
            </a:pPr>
            <a:r>
              <a:rPr b="0" i="0" lang="en-US" sz="1200" u="none" cap="none" strike="noStrike">
                <a:solidFill>
                  <a:srgbClr val="2B2E3C"/>
                </a:solidFill>
                <a:latin typeface="Bitter Medium"/>
                <a:ea typeface="Bitter Medium"/>
                <a:cs typeface="Bitter Medium"/>
                <a:sym typeface="Bitter Medium"/>
              </a:rPr>
              <a:t>Parallel, Specialized Agents</a:t>
            </a:r>
            <a:endParaRPr b="0" i="0" sz="1200" u="none" cap="none" strike="noStrike">
              <a:solidFill>
                <a:schemeClr val="dk1"/>
              </a:solidFill>
              <a:latin typeface="Calibri"/>
              <a:ea typeface="Calibri"/>
              <a:cs typeface="Calibri"/>
              <a:sym typeface="Calibri"/>
            </a:endParaRPr>
          </a:p>
        </p:txBody>
      </p:sp>
      <p:sp>
        <p:nvSpPr>
          <p:cNvPr id="142" name="Google Shape;142;p13"/>
          <p:cNvSpPr/>
          <p:nvPr/>
        </p:nvSpPr>
        <p:spPr>
          <a:xfrm>
            <a:off x="4064943" y="2740149"/>
            <a:ext cx="1208782" cy="84445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B2E3C"/>
              </a:buClr>
              <a:buSzPts val="1000"/>
              <a:buFont typeface="Open Sans"/>
              <a:buNone/>
            </a:pPr>
            <a:r>
              <a:rPr b="0" i="0" lang="en-US" sz="1000" u="none" cap="none" strike="noStrike">
                <a:solidFill>
                  <a:srgbClr val="2B2E3C"/>
                </a:solidFill>
                <a:latin typeface="Open Sans"/>
                <a:ea typeface="Open Sans"/>
                <a:cs typeface="Open Sans"/>
                <a:sym typeface="Open Sans"/>
              </a:rPr>
              <a:t>Enable domain-level rigor and faster iteration than monolithic models.</a:t>
            </a:r>
            <a:endParaRPr b="0" i="0" sz="1000" u="none" cap="none" strike="noStrike">
              <a:solidFill>
                <a:schemeClr val="dk1"/>
              </a:solidFill>
              <a:latin typeface="Calibri"/>
              <a:ea typeface="Calibri"/>
              <a:cs typeface="Calibri"/>
              <a:sym typeface="Calibri"/>
            </a:endParaRPr>
          </a:p>
        </p:txBody>
      </p:sp>
      <p:sp>
        <p:nvSpPr>
          <p:cNvPr id="143" name="Google Shape;143;p13"/>
          <p:cNvSpPr/>
          <p:nvPr/>
        </p:nvSpPr>
        <p:spPr>
          <a:xfrm>
            <a:off x="5542285" y="1889745"/>
            <a:ext cx="1488430" cy="2045791"/>
          </a:xfrm>
          <a:prstGeom prst="roundRect">
            <a:avLst>
              <a:gd fmla="val 3813" name="adj"/>
            </a:avLst>
          </a:prstGeom>
          <a:solidFill>
            <a:srgbClr val="FCE2CF"/>
          </a:solidFill>
          <a:ln cap="flat" cmpd="sng" w="9525">
            <a:solidFill>
              <a:srgbClr val="E2C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a:off x="5682109" y="2029569"/>
            <a:ext cx="1208782" cy="42222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200"/>
              <a:buFont typeface="Bitter Medium"/>
              <a:buNone/>
            </a:pPr>
            <a:r>
              <a:rPr b="0" i="0" lang="en-US" sz="1200" u="none" cap="none" strike="noStrike">
                <a:solidFill>
                  <a:srgbClr val="2B2E3C"/>
                </a:solidFill>
                <a:latin typeface="Bitter Medium"/>
                <a:ea typeface="Bitter Medium"/>
                <a:cs typeface="Bitter Medium"/>
                <a:sym typeface="Bitter Medium"/>
              </a:rPr>
              <a:t>Temporal Stratification</a:t>
            </a:r>
            <a:endParaRPr b="0" i="0" sz="1200" u="none" cap="none" strike="noStrike">
              <a:solidFill>
                <a:schemeClr val="dk1"/>
              </a:solidFill>
              <a:latin typeface="Calibri"/>
              <a:ea typeface="Calibri"/>
              <a:cs typeface="Calibri"/>
              <a:sym typeface="Calibri"/>
            </a:endParaRPr>
          </a:p>
        </p:txBody>
      </p:sp>
      <p:sp>
        <p:nvSpPr>
          <p:cNvPr id="145" name="Google Shape;145;p13"/>
          <p:cNvSpPr/>
          <p:nvPr/>
        </p:nvSpPr>
        <p:spPr>
          <a:xfrm>
            <a:off x="5682109" y="2529036"/>
            <a:ext cx="1208782" cy="10555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B2E3C"/>
              </a:buClr>
              <a:buSzPts val="1000"/>
              <a:buFont typeface="Open Sans"/>
              <a:buNone/>
            </a:pPr>
            <a:r>
              <a:rPr b="0" i="0" lang="en-US" sz="1000" u="none" cap="none" strike="noStrike">
                <a:solidFill>
                  <a:srgbClr val="2B2E3C"/>
                </a:solidFill>
                <a:latin typeface="Open Sans"/>
                <a:ea typeface="Open Sans"/>
                <a:cs typeface="Open Sans"/>
                <a:sym typeface="Open Sans"/>
              </a:rPr>
              <a:t>Delivers both immediate tutoring and long-term trajectory management.</a:t>
            </a:r>
            <a:endParaRPr b="0" i="0" sz="1000" u="none" cap="none" strike="noStrike">
              <a:solidFill>
                <a:schemeClr val="dk1"/>
              </a:solidFill>
              <a:latin typeface="Calibri"/>
              <a:ea typeface="Calibri"/>
              <a:cs typeface="Calibri"/>
              <a:sym typeface="Calibri"/>
            </a:endParaRPr>
          </a:p>
        </p:txBody>
      </p:sp>
      <p:sp>
        <p:nvSpPr>
          <p:cNvPr id="146" name="Google Shape;146;p13"/>
          <p:cNvSpPr/>
          <p:nvPr/>
        </p:nvSpPr>
        <p:spPr>
          <a:xfrm>
            <a:off x="7159451" y="1889745"/>
            <a:ext cx="1488430" cy="2045791"/>
          </a:xfrm>
          <a:prstGeom prst="roundRect">
            <a:avLst>
              <a:gd fmla="val 3813" name="adj"/>
            </a:avLst>
          </a:prstGeom>
          <a:solidFill>
            <a:srgbClr val="FCE2CF"/>
          </a:solidFill>
          <a:ln cap="flat" cmpd="sng" w="9525">
            <a:solidFill>
              <a:srgbClr val="E2C8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a:off x="7299275" y="2029569"/>
            <a:ext cx="1208782" cy="42222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2B2E3C"/>
              </a:buClr>
              <a:buSzPts val="1200"/>
              <a:buFont typeface="Bitter Medium"/>
              <a:buNone/>
            </a:pPr>
            <a:r>
              <a:rPr b="0" i="0" lang="en-US" sz="1200" u="none" cap="none" strike="noStrike">
                <a:solidFill>
                  <a:srgbClr val="2B2E3C"/>
                </a:solidFill>
                <a:latin typeface="Bitter Medium"/>
                <a:ea typeface="Bitter Medium"/>
                <a:cs typeface="Bitter Medium"/>
                <a:sym typeface="Bitter Medium"/>
              </a:rPr>
              <a:t>Scalable Analytics</a:t>
            </a:r>
            <a:endParaRPr b="0" i="0" sz="1200" u="none" cap="none" strike="noStrike">
              <a:solidFill>
                <a:schemeClr val="dk1"/>
              </a:solidFill>
              <a:latin typeface="Calibri"/>
              <a:ea typeface="Calibri"/>
              <a:cs typeface="Calibri"/>
              <a:sym typeface="Calibri"/>
            </a:endParaRPr>
          </a:p>
        </p:txBody>
      </p:sp>
      <p:sp>
        <p:nvSpPr>
          <p:cNvPr id="148" name="Google Shape;148;p13"/>
          <p:cNvSpPr/>
          <p:nvPr/>
        </p:nvSpPr>
        <p:spPr>
          <a:xfrm>
            <a:off x="7299275" y="2529036"/>
            <a:ext cx="1208782" cy="126667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B2E3C"/>
              </a:buClr>
              <a:buSzPts val="1000"/>
              <a:buFont typeface="Open Sans"/>
              <a:buNone/>
            </a:pPr>
            <a:r>
              <a:rPr b="0" i="0" lang="en-US" sz="1000" u="none" cap="none" strike="noStrike">
                <a:solidFill>
                  <a:srgbClr val="2B2E3C"/>
                </a:solidFill>
                <a:latin typeface="Open Sans"/>
                <a:ea typeface="Open Sans"/>
                <a:cs typeface="Open Sans"/>
                <a:sym typeface="Open Sans"/>
              </a:rPr>
              <a:t>PySpark-powered pipelines make large-scale feature engineering and model refresh practical.</a:t>
            </a:r>
            <a:endParaRPr b="0" i="0" sz="1000" u="none" cap="none" strike="noStrike">
              <a:solidFill>
                <a:schemeClr val="dk1"/>
              </a:solidFill>
              <a:latin typeface="Calibri"/>
              <a:ea typeface="Calibri"/>
              <a:cs typeface="Calibri"/>
              <a:sym typeface="Calibri"/>
            </a:endParaRPr>
          </a:p>
        </p:txBody>
      </p:sp>
      <p:sp>
        <p:nvSpPr>
          <p:cNvPr id="149" name="Google Shape;149;p13"/>
          <p:cNvSpPr/>
          <p:nvPr/>
        </p:nvSpPr>
        <p:spPr>
          <a:xfrm>
            <a:off x="3925119" y="4080421"/>
            <a:ext cx="4722763" cy="63333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B2E3C"/>
              </a:buClr>
              <a:buSzPts val="1000"/>
              <a:buFont typeface="Open Sans"/>
              <a:buNone/>
            </a:pPr>
            <a:r>
              <a:rPr b="0" i="0" lang="en-US" sz="1000" u="none" cap="none" strike="noStrike">
                <a:solidFill>
                  <a:srgbClr val="2B2E3C"/>
                </a:solidFill>
                <a:latin typeface="Open Sans"/>
                <a:ea typeface="Open Sans"/>
                <a:cs typeface="Open Sans"/>
                <a:sym typeface="Open Sans"/>
              </a:rPr>
              <a:t> Final outcome: safer, continuously improving tutoring at scale—augmenting human instructors with data-driven personalization while preserving human oversight.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